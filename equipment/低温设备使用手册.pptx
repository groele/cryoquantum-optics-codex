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57" r:id="rId4"/>
    <p:sldId id="267" r:id="rId5"/>
    <p:sldId id="258" r:id="rId6"/>
    <p:sldId id="268" r:id="rId7"/>
    <p:sldId id="259" r:id="rId8"/>
    <p:sldId id="263" r:id="rId9"/>
    <p:sldId id="264" r:id="rId10"/>
    <p:sldId id="270" r:id="rId11"/>
    <p:sldId id="271" r:id="rId12"/>
    <p:sldId id="274" r:id="rId13"/>
    <p:sldId id="272" r:id="rId14"/>
    <p:sldId id="273" r:id="rId15"/>
    <p:sldId id="261" r:id="rId16"/>
    <p:sldId id="260" r:id="rId17"/>
    <p:sldId id="262" r:id="rId18"/>
    <p:sldId id="265" r:id="rId19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222" y="7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 Gro" userId="65ab99fe2a965292" providerId="LiveId" clId="{2D49DDF6-EDF9-498A-A02B-0AE2AEEE7989}"/>
    <pc:docChg chg="custSel modSld">
      <pc:chgData name="ele Gro" userId="65ab99fe2a965292" providerId="LiveId" clId="{2D49DDF6-EDF9-498A-A02B-0AE2AEEE7989}" dt="2026-08-21T03:35:37.430" v="148" actId="20577"/>
      <pc:docMkLst>
        <pc:docMk/>
      </pc:docMkLst>
      <pc:sldChg chg="addSp delSp modSp mod">
        <pc:chgData name="ele Gro" userId="65ab99fe2a965292" providerId="LiveId" clId="{2D49DDF6-EDF9-498A-A02B-0AE2AEEE7989}" dt="2026-08-21T03:35:37.430" v="148" actId="20577"/>
        <pc:sldMkLst>
          <pc:docMk/>
          <pc:sldMk cId="0" sldId="265"/>
        </pc:sldMkLst>
        <pc:spChg chg="mod">
          <ac:chgData name="ele Gro" userId="65ab99fe2a965292" providerId="LiveId" clId="{2D49DDF6-EDF9-498A-A02B-0AE2AEEE7989}" dt="2026-08-21T03:35:37.430" v="148" actId="20577"/>
          <ac:spMkLst>
            <pc:docMk/>
            <pc:sldMk cId="0" sldId="265"/>
            <ac:spMk id="16" creationId="{00000000-0000-0000-0000-000000000000}"/>
          </ac:spMkLst>
        </pc:spChg>
        <pc:spChg chg="del mod topLvl">
          <ac:chgData name="ele Gro" userId="65ab99fe2a965292" providerId="LiveId" clId="{2D49DDF6-EDF9-498A-A02B-0AE2AEEE7989}" dt="2026-08-21T03:35:16.065" v="101" actId="478"/>
          <ac:spMkLst>
            <pc:docMk/>
            <pc:sldMk cId="0" sldId="265"/>
            <ac:spMk id="34" creationId="{00000000-0000-0000-0000-000000000000}"/>
          </ac:spMkLst>
        </pc:spChg>
        <pc:grpChg chg="add del mod">
          <ac:chgData name="ele Gro" userId="65ab99fe2a965292" providerId="LiveId" clId="{2D49DDF6-EDF9-498A-A02B-0AE2AEEE7989}" dt="2026-08-21T03:35:16.065" v="101" actId="478"/>
          <ac:grpSpMkLst>
            <pc:docMk/>
            <pc:sldMk cId="0" sldId="265"/>
            <ac:grpSpMk id="2" creationId="{42752AFE-0674-4039-05E1-D75CFC3387D7}"/>
          </ac:grpSpMkLst>
        </pc:grpChg>
        <pc:grpChg chg="mod topLvl">
          <ac:chgData name="ele Gro" userId="65ab99fe2a965292" providerId="LiveId" clId="{2D49DDF6-EDF9-498A-A02B-0AE2AEEE7989}" dt="2026-08-21T03:35:16.065" v="101" actId="478"/>
          <ac:grpSpMkLst>
            <pc:docMk/>
            <pc:sldMk cId="0" sldId="265"/>
            <ac:grpSpMk id="20" creationId="{00000000-0000-0000-0000-000000000000}"/>
          </ac:grpSpMkLst>
        </pc:grpChg>
        <pc:picChg chg="del mod">
          <ac:chgData name="ele Gro" userId="65ab99fe2a965292" providerId="LiveId" clId="{2D49DDF6-EDF9-498A-A02B-0AE2AEEE7989}" dt="2026-08-21T03:35:14.184" v="100" actId="478"/>
          <ac:picMkLst>
            <pc:docMk/>
            <pc:sldMk cId="0" sldId="265"/>
            <ac:picMk id="2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86130-63BE-45AD-BF53-4CCD8A5780D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2A431-6731-437F-A188-E2EC30C020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A431-6731-437F-A188-E2EC30C020D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A431-6731-437F-A188-E2EC30C020DC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A431-6731-437F-A188-E2EC30C020DC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86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5"/>
            </a:lvl1pPr>
            <a:lvl2pPr marL="660400" indent="0" algn="ctr">
              <a:buNone/>
              <a:defRPr sz="2890"/>
            </a:lvl2pPr>
            <a:lvl3pPr marL="1320800" indent="0" algn="ctr">
              <a:buNone/>
              <a:defRPr sz="2600"/>
            </a:lvl3pPr>
            <a:lvl4pPr marL="1981200" indent="0" algn="ctr">
              <a:buNone/>
              <a:defRPr sz="2310"/>
            </a:lvl4pPr>
            <a:lvl5pPr marL="2641600" indent="0" algn="ctr">
              <a:buNone/>
              <a:defRPr sz="2310"/>
            </a:lvl5pPr>
            <a:lvl6pPr marL="3302000" indent="0" algn="ctr">
              <a:buNone/>
              <a:defRPr sz="2310"/>
            </a:lvl6pPr>
            <a:lvl7pPr marL="3962400" indent="0" algn="ctr">
              <a:buNone/>
              <a:defRPr sz="2310"/>
            </a:lvl7pPr>
            <a:lvl8pPr marL="4622800" indent="0" algn="ctr">
              <a:buNone/>
              <a:defRPr sz="2310"/>
            </a:lvl8pPr>
            <a:lvl9pPr marL="5283200" indent="0" algn="ctr">
              <a:buNone/>
              <a:defRPr sz="231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86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1pPr>
            <a:lvl2pPr marL="660400" indent="0">
              <a:buNone/>
              <a:defRPr sz="2890">
                <a:solidFill>
                  <a:schemeClr val="tx1">
                    <a:tint val="75000"/>
                  </a:schemeClr>
                </a:solidFill>
              </a:defRPr>
            </a:lvl2pPr>
            <a:lvl3pPr marL="132080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4pPr>
            <a:lvl5pPr marL="26416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5pPr>
            <a:lvl6pPr marL="33020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6pPr>
            <a:lvl7pPr marL="39624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7pPr>
            <a:lvl8pPr marL="46228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8pPr>
            <a:lvl9pPr marL="5283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4620"/>
            </a:lvl1pPr>
            <a:lvl2pPr>
              <a:defRPr sz="4045"/>
            </a:lvl2pPr>
            <a:lvl3pPr>
              <a:defRPr sz="3465"/>
            </a:lvl3pPr>
            <a:lvl4pPr>
              <a:defRPr sz="2890"/>
            </a:lvl4pPr>
            <a:lvl5pPr>
              <a:defRPr sz="2890"/>
            </a:lvl5pPr>
            <a:lvl6pPr>
              <a:defRPr sz="2890"/>
            </a:lvl6pPr>
            <a:lvl7pPr>
              <a:defRPr sz="2890"/>
            </a:lvl7pPr>
            <a:lvl8pPr>
              <a:defRPr sz="2890"/>
            </a:lvl8pPr>
            <a:lvl9pPr>
              <a:defRPr sz="2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4620"/>
            </a:lvl1pPr>
            <a:lvl2pPr marL="660400" indent="0">
              <a:buNone/>
              <a:defRPr sz="4045"/>
            </a:lvl2pPr>
            <a:lvl3pPr marL="1320800" indent="0">
              <a:buNone/>
              <a:defRPr sz="3465"/>
            </a:lvl3pPr>
            <a:lvl4pPr marL="1981200" indent="0">
              <a:buNone/>
              <a:defRPr sz="2890"/>
            </a:lvl4pPr>
            <a:lvl5pPr marL="2641600" indent="0">
              <a:buNone/>
              <a:defRPr sz="2890"/>
            </a:lvl5pPr>
            <a:lvl6pPr marL="3302000" indent="0">
              <a:buNone/>
              <a:defRPr sz="2890"/>
            </a:lvl6pPr>
            <a:lvl7pPr marL="3962400" indent="0">
              <a:buNone/>
              <a:defRPr sz="2890"/>
            </a:lvl7pPr>
            <a:lvl8pPr marL="4622800" indent="0">
              <a:buNone/>
              <a:defRPr sz="2890"/>
            </a:lvl8pPr>
            <a:lvl9pPr marL="5283200" indent="0">
              <a:buNone/>
              <a:defRPr sz="28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49106-168E-4F9B-90C2-FE11713EACC8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5DC95-0DCA-401D-B137-09E2E038DD5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800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200" indent="-330200" algn="l" defTabSz="132080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404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3465" kern="1200">
          <a:solidFill>
            <a:schemeClr val="tx1"/>
          </a:solidFill>
          <a:latin typeface="+mn-lt"/>
          <a:ea typeface="+mn-ea"/>
          <a:cs typeface="+mn-cs"/>
        </a:defRPr>
      </a:lvl2pPr>
      <a:lvl3pPr marL="1651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890" kern="1200">
          <a:solidFill>
            <a:schemeClr val="tx1"/>
          </a:solidFill>
          <a:latin typeface="+mn-lt"/>
          <a:ea typeface="+mn-ea"/>
          <a:cs typeface="+mn-cs"/>
        </a:defRPr>
      </a:lvl3pPr>
      <a:lvl4pPr marL="2311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8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2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3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17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23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37.jpe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35.jpeg"/><Relationship Id="rId5" Type="http://schemas.openxmlformats.org/officeDocument/2006/relationships/image" Target="../media/image31.png"/><Relationship Id="rId10" Type="http://schemas.openxmlformats.org/officeDocument/2006/relationships/image" Target="../media/image34.jpeg"/><Relationship Id="rId4" Type="http://schemas.microsoft.com/office/2007/relationships/hdphoto" Target="../media/hdphoto1.wdp"/><Relationship Id="rId9" Type="http://schemas.openxmlformats.org/officeDocument/2006/relationships/image" Target="../media/image3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yoRaman – Cryogenic Raman imaging microscope by WITe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2788"/>
            <a:ext cx="6858000" cy="59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01304" y="0"/>
            <a:ext cx="6455391" cy="4194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Reservoir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升温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当整个设备停止工作较长时间时，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Reservoir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和磁体温度上升，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coldtrap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吸附失效，吸附的杂质会释放出来造成循环气路的不通畅，影响温度的下降。当温度很难将温度降到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base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温度时，需要将整个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attocubeDRY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升温到室温（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300K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），包括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sample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温度、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VTI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温度以及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reservoir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温度。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为了将设备升温，需要关掉模泵（图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中红色圈），关掉压缩机，关掉水冷，然后将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reservoir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温度设置为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300 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，点击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蓝色框）。等待温度升到室温，升温时间需要十几小时。当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reservoir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的温度上升到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300 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时，将此温度设置成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3.7 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18848" r="8889" b="3778"/>
          <a:stretch>
            <a:fillRect/>
          </a:stretch>
        </p:blipFill>
        <p:spPr>
          <a:xfrm>
            <a:off x="636520" y="508000"/>
            <a:ext cx="5715000" cy="2971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6520" y="138668"/>
            <a:ext cx="3427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Temperature: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6520" y="3616903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Expert: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设置气路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636520" y="4009571"/>
            <a:ext cx="5715000" cy="2520950"/>
            <a:chOff x="431800" y="4009571"/>
            <a:chExt cx="5715000" cy="25209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78" t="18976" r="8889" b="15159"/>
            <a:stretch>
              <a:fillRect/>
            </a:stretch>
          </p:blipFill>
          <p:spPr>
            <a:xfrm>
              <a:off x="431800" y="4009571"/>
              <a:ext cx="5715000" cy="252095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420870" y="447462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升温状态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366449" y="5356971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rgbClr val="FF0000"/>
                  </a:solidFill>
                </a:rPr>
                <a:t>关闭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109648" y="4720771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rgbClr val="FF0000"/>
                  </a:solidFill>
                </a:rPr>
                <a:t>打开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109648" y="5984421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rgbClr val="FF0000"/>
                  </a:solidFill>
                </a:rPr>
                <a:t>打开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61746" y="6936325"/>
            <a:ext cx="2097029" cy="2743200"/>
            <a:chOff x="657026" y="6776669"/>
            <a:chExt cx="2097029" cy="2743200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37" b="7039"/>
            <a:stretch>
              <a:fillRect/>
            </a:stretch>
          </p:blipFill>
          <p:spPr>
            <a:xfrm>
              <a:off x="657026" y="6776669"/>
              <a:ext cx="2097029" cy="27432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052616" y="9115425"/>
              <a:ext cx="1305847" cy="282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68183" y="907204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压缩机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729450" y="8724404"/>
              <a:ext cx="752473" cy="282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79228" y="868158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关闭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332569" y="6936324"/>
            <a:ext cx="2053482" cy="2743201"/>
            <a:chOff x="3833243" y="6776668"/>
            <a:chExt cx="2053482" cy="2743201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3243" y="6776668"/>
              <a:ext cx="2053482" cy="2743201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3858892" y="9050912"/>
              <a:ext cx="798833" cy="282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935142" y="90069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关闭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4859984" y="7091228"/>
              <a:ext cx="816641" cy="282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859984" y="706029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水冷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36520" y="6488502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、关闭压缩机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255928" y="648216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、关闭水冷</a:t>
            </a:r>
          </a:p>
        </p:txBody>
      </p:sp>
      <p:sp>
        <p:nvSpPr>
          <p:cNvPr id="29" name="矩形 28"/>
          <p:cNvSpPr/>
          <p:nvPr/>
        </p:nvSpPr>
        <p:spPr>
          <a:xfrm>
            <a:off x="2828146" y="1993900"/>
            <a:ext cx="612394" cy="2529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630279" y="2909248"/>
            <a:ext cx="697562" cy="3018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711035" y="4467860"/>
            <a:ext cx="380410" cy="2529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593874" y="7953981"/>
            <a:ext cx="1515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升温耗时：</a:t>
            </a:r>
            <a:r>
              <a:rPr lang="en-US" altLang="zh-CN" sz="2000" dirty="0"/>
              <a:t>~20 h</a:t>
            </a:r>
            <a:endParaRPr lang="zh-CN" altLang="en-US" sz="2000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2327841" y="3124200"/>
            <a:ext cx="14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734864" y="3060173"/>
            <a:ext cx="2308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升值室温后，将其调至</a:t>
            </a:r>
            <a:r>
              <a:rPr lang="en-US" altLang="zh-CN" sz="1400" dirty="0">
                <a:solidFill>
                  <a:srgbClr val="FF0000"/>
                </a:solidFill>
              </a:rPr>
              <a:t>3.7K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1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90015" y="143893"/>
            <a:ext cx="6277970" cy="7108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循环气路抽真空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对循环气路进行抽真空。将分子泵与压缩机顶上的连通口连接上，如图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所示。打开手阀（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bypass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service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红色圈）以及图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中的四个阀（绿色圈），泵也要打开，使所有的气体可以被抽走。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进行抽真空时将分子泵先关掉让机械泵（按左右键到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022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界面，同时按下左右键，将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，同时按下左右键确认）抽到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 mbar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中三个压力显示）以下，在抽循环气路时，可以先对泵中的管道进行抽真空。打开分子泵，进行循环气路的抽真空，此时需要将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cryo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out,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cryo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in,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dump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的压力抽到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-4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mbar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量级。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接下来进行真空度的验证。关掉手阀和关掉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dump in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dump out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，使循环气路保持封闭，观察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cryo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out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cryo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的压力半个小时。如果压力上升过快，或者最终压力较高，表明有杂质没有被抽出来，需要烘烤干泵和洗气。在抽循环气路的时候，可以对黑色罐同时进行抽真空（图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），用机械泵抽，后分子泵，抽到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18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mbar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96540" y="244783"/>
            <a:ext cx="6154701" cy="7889869"/>
            <a:chOff x="441948" y="927173"/>
            <a:chExt cx="6154701" cy="7889869"/>
          </a:xfrm>
        </p:grpSpPr>
        <p:sp>
          <p:nvSpPr>
            <p:cNvPr id="9" name="文本框 8"/>
            <p:cNvSpPr txBox="1"/>
            <p:nvPr/>
          </p:nvSpPr>
          <p:spPr>
            <a:xfrm>
              <a:off x="581927" y="927173"/>
              <a:ext cx="2666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、转移分子泵至压缩机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391" y="1357084"/>
              <a:ext cx="2782389" cy="2086792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9128" y="1357084"/>
              <a:ext cx="2782389" cy="2086792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 rot="1164430">
              <a:off x="4862372" y="1890123"/>
              <a:ext cx="323306" cy="8128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077728" y="290404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拆解处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76483" y="147041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低温腔</a:t>
              </a: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3686533" y="3617321"/>
              <a:ext cx="2910116" cy="2086792"/>
              <a:chOff x="3536405" y="3130550"/>
              <a:chExt cx="2910116" cy="2086792"/>
            </a:xfrm>
          </p:grpSpPr>
          <p:pic>
            <p:nvPicPr>
              <p:cNvPr id="26" name="图片 2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36405" y="3130550"/>
                <a:ext cx="2782389" cy="2086792"/>
              </a:xfrm>
              <a:prstGeom prst="rect">
                <a:avLst/>
              </a:prstGeom>
            </p:spPr>
          </p:pic>
          <p:sp>
            <p:nvSpPr>
              <p:cNvPr id="27" name="文本框 26"/>
              <p:cNvSpPr txBox="1"/>
              <p:nvPr/>
            </p:nvSpPr>
            <p:spPr>
              <a:xfrm>
                <a:off x="4722972" y="3608998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</a:rPr>
                  <a:t>关闭分子泵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4722972" y="4189019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</a:rPr>
                  <a:t>打开机械泵</a:t>
                </a: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620390" y="3617321"/>
              <a:ext cx="2782389" cy="2086792"/>
              <a:chOff x="470262" y="2825748"/>
              <a:chExt cx="2782389" cy="2086792"/>
            </a:xfrm>
          </p:grpSpPr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262" y="2825748"/>
                <a:ext cx="2782389" cy="2086792"/>
              </a:xfrm>
              <a:prstGeom prst="rect">
                <a:avLst/>
              </a:prstGeom>
            </p:spPr>
          </p:pic>
          <p:sp>
            <p:nvSpPr>
              <p:cNvPr id="20" name="矩形 19"/>
              <p:cNvSpPr/>
              <p:nvPr/>
            </p:nvSpPr>
            <p:spPr>
              <a:xfrm rot="1164430">
                <a:off x="1410148" y="3445341"/>
                <a:ext cx="988540" cy="812800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1861456" y="4417365"/>
                <a:ext cx="1107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压缩机</a:t>
                </a: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620390" y="5955572"/>
              <a:ext cx="2782390" cy="2086793"/>
              <a:chOff x="3423080" y="3130550"/>
              <a:chExt cx="2782390" cy="2086793"/>
            </a:xfrm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23080" y="3130550"/>
                <a:ext cx="2782390" cy="2086793"/>
              </a:xfrm>
              <a:prstGeom prst="rect">
                <a:avLst/>
              </a:prstGeom>
            </p:spPr>
          </p:pic>
          <p:sp>
            <p:nvSpPr>
              <p:cNvPr id="21" name="矩形 20"/>
              <p:cNvSpPr/>
              <p:nvPr/>
            </p:nvSpPr>
            <p:spPr>
              <a:xfrm rot="1164430">
                <a:off x="3659893" y="3750143"/>
                <a:ext cx="587474" cy="812800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1164430">
                <a:off x="4596608" y="3834856"/>
                <a:ext cx="587474" cy="812800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106389" y="4722166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打开阀门</a:t>
                </a: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44" t="32811" r="21875" b="19507"/>
            <a:stretch>
              <a:fillRect/>
            </a:stretch>
          </p:blipFill>
          <p:spPr>
            <a:xfrm>
              <a:off x="3755475" y="5955572"/>
              <a:ext cx="2782391" cy="2086791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4945745" y="588233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确认管路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41948" y="8293822"/>
              <a:ext cx="5211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+mn-ea"/>
                </a:rPr>
                <a:t>抽管道中的气体（不是很重要）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2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7422" y="668573"/>
            <a:ext cx="6277970" cy="377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reservoir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温度上升到室温后，对吸附剂进行加热。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加热的时候把过滤器两端封起来（上下两个阀门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打开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），侧向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关闭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加热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8h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左右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，停止加热五分钟以后把侧向阀关上。加热完后，对吸附剂进行抽真空，通过侧向阀门抽，即将侧向阀门打开，然后连接泵，将吸附剂抽真空。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1799" y="135600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冲洗过滤器（再生）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1" y="720407"/>
            <a:ext cx="1846299" cy="138472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1164430">
            <a:off x="661532" y="1141146"/>
            <a:ext cx="326340" cy="4293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7376" y="181894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关闭阀门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753" y="711215"/>
            <a:ext cx="1846298" cy="138472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319657" y="125836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关闭机械泵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72668" y="6331459"/>
            <a:ext cx="2450163" cy="183762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73" b="4667"/>
          <a:stretch>
            <a:fillRect/>
          </a:stretch>
        </p:blipFill>
        <p:spPr>
          <a:xfrm rot="5400000">
            <a:off x="4706505" y="521577"/>
            <a:ext cx="1384724" cy="176400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 rot="1164430">
            <a:off x="1313186" y="1182194"/>
            <a:ext cx="326340" cy="4293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489044" y="1818939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接通氮气管路</a:t>
            </a:r>
          </a:p>
        </p:txBody>
      </p:sp>
      <p:sp>
        <p:nvSpPr>
          <p:cNvPr id="30" name="矩形 29"/>
          <p:cNvSpPr/>
          <p:nvPr/>
        </p:nvSpPr>
        <p:spPr>
          <a:xfrm rot="1164430">
            <a:off x="4706866" y="1458626"/>
            <a:ext cx="585204" cy="3077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51015" y="794856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调节阀门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30554" y="6973270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控制氮气流速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489043" y="2188284"/>
            <a:ext cx="1791823" cy="3590832"/>
            <a:chOff x="4489043" y="2188284"/>
            <a:chExt cx="1791823" cy="3590832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50" r="1142" b="29977"/>
            <a:stretch>
              <a:fillRect/>
            </a:stretch>
          </p:blipFill>
          <p:spPr>
            <a:xfrm rot="5400000">
              <a:off x="3589539" y="3087788"/>
              <a:ext cx="3590832" cy="1791823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5043042" y="4515820"/>
              <a:ext cx="9573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打开加热器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4672358" y="2503144"/>
              <a:ext cx="1195042" cy="16792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3445" y="2188282"/>
            <a:ext cx="1846298" cy="3590833"/>
            <a:chOff x="2517753" y="2188283"/>
            <a:chExt cx="1846298" cy="3590833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398" b="10046"/>
            <a:stretch>
              <a:fillRect/>
            </a:stretch>
          </p:blipFill>
          <p:spPr>
            <a:xfrm rot="5400000">
              <a:off x="1645486" y="3060551"/>
              <a:ext cx="3590833" cy="1846297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2791823" y="359233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关闭侧阀门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2517753" y="2722699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546328" y="4326740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7385CB5-8EC8-1AF8-E3BE-D7AE07029B6B}"/>
              </a:ext>
            </a:extLst>
          </p:cNvPr>
          <p:cNvGrpSpPr/>
          <p:nvPr/>
        </p:nvGrpSpPr>
        <p:grpSpPr>
          <a:xfrm>
            <a:off x="2537583" y="2188285"/>
            <a:ext cx="1846300" cy="3590831"/>
            <a:chOff x="478939" y="2217310"/>
            <a:chExt cx="1846300" cy="3590831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8246"/>
            <a:stretch>
              <a:fillRect/>
            </a:stretch>
          </p:blipFill>
          <p:spPr>
            <a:xfrm rot="5400000">
              <a:off x="518894" y="2177355"/>
              <a:ext cx="1766390" cy="1846299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7" r="18409"/>
            <a:stretch>
              <a:fillRect/>
            </a:stretch>
          </p:blipFill>
          <p:spPr>
            <a:xfrm rot="5400000">
              <a:off x="518893" y="4001795"/>
              <a:ext cx="1766392" cy="1846300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577133" y="3523898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打开上下阀门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1049933" y="4717914"/>
              <a:ext cx="651654" cy="9018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972342" y="2276612"/>
              <a:ext cx="651654" cy="9018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517753" y="6093977"/>
            <a:ext cx="2246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耗时：</a:t>
            </a:r>
            <a:r>
              <a:rPr lang="en-US" altLang="zh-CN" sz="2800" b="1" dirty="0">
                <a:latin typeface="+mn-ea"/>
              </a:rPr>
              <a:t>8-10h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98934" y="6826664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注意气体的消耗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95522" y="7523441"/>
            <a:ext cx="35267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加热过滤器，使用氮气冲洗过滤器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3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5970" y="639668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开启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46"/>
          <a:stretch>
            <a:fillRect/>
          </a:stretch>
        </p:blipFill>
        <p:spPr>
          <a:xfrm rot="5400000">
            <a:off x="4579527" y="532774"/>
            <a:ext cx="1766390" cy="18462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69197" y="200508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关闭上下阀门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4539572" y="2397168"/>
            <a:ext cx="1846300" cy="1766392"/>
            <a:chOff x="4539572" y="2397168"/>
            <a:chExt cx="1846300" cy="176639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7" r="18409"/>
            <a:stretch>
              <a:fillRect/>
            </a:stretch>
          </p:blipFill>
          <p:spPr>
            <a:xfrm rot="5400000">
              <a:off x="4579526" y="2357214"/>
              <a:ext cx="1766392" cy="184630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5110566" y="3073333"/>
              <a:ext cx="651654" cy="9018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5032975" y="632031"/>
            <a:ext cx="651654" cy="901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433684" y="572728"/>
            <a:ext cx="1791823" cy="3590832"/>
            <a:chOff x="4489043" y="2188284"/>
            <a:chExt cx="1791823" cy="3590832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50" r="1142" b="29977"/>
            <a:stretch>
              <a:fillRect/>
            </a:stretch>
          </p:blipFill>
          <p:spPr>
            <a:xfrm rot="5400000">
              <a:off x="3589539" y="3087788"/>
              <a:ext cx="3590832" cy="1791823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043042" y="4515820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关闭加热器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672358" y="2503144"/>
              <a:ext cx="1195042" cy="16792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7795" y="588938"/>
            <a:ext cx="1791825" cy="3558412"/>
            <a:chOff x="327795" y="415389"/>
            <a:chExt cx="1791825" cy="3558412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271" b="5590"/>
            <a:stretch>
              <a:fillRect/>
            </a:stretch>
          </p:blipFill>
          <p:spPr>
            <a:xfrm rot="5400000">
              <a:off x="-555498" y="1298682"/>
              <a:ext cx="3558412" cy="1791825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617123" y="297929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断开气体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03469" y="4350212"/>
            <a:ext cx="3740931" cy="2787454"/>
            <a:chOff x="303469" y="4147012"/>
            <a:chExt cx="3740931" cy="2787454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795" y="4147012"/>
              <a:ext cx="3716605" cy="2787454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2002046" y="5006468"/>
              <a:ext cx="1975878" cy="109158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27795" y="4864519"/>
              <a:ext cx="14157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连接分子泵抽真空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03469" y="5402239"/>
              <a:ext cx="16687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抽</a:t>
              </a:r>
              <a:r>
                <a:rPr lang="en-US" altLang="zh-CN" dirty="0">
                  <a:solidFill>
                    <a:srgbClr val="FF0000"/>
                  </a:solidFill>
                </a:rPr>
                <a:t>-</a:t>
              </a:r>
              <a:r>
                <a:rPr lang="zh-CN" altLang="en-US" dirty="0">
                  <a:solidFill>
                    <a:srgbClr val="FF0000"/>
                  </a:solidFill>
                </a:rPr>
                <a:t>打开下阀门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2281238" y="5141518"/>
              <a:ext cx="805849" cy="69424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393237" y="61007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转接环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636520" y="6150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抽真空过滤器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8921" y="7324318"/>
            <a:ext cx="6495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关闭过滤器，使用分子泵抽真空，真空度小于</a:t>
            </a:r>
            <a:r>
              <a:rPr lang="en-US" altLang="zh-CN" sz="2800" b="1" dirty="0">
                <a:latin typeface="+mn-ea"/>
              </a:rPr>
              <a:t>10</a:t>
            </a:r>
            <a:r>
              <a:rPr lang="en-US" altLang="zh-CN" sz="2800" b="1" baseline="30000" dirty="0">
                <a:latin typeface="+mn-ea"/>
              </a:rPr>
              <a:t>-5</a:t>
            </a:r>
            <a:endParaRPr lang="zh-CN" altLang="en-US" sz="2800" b="1" baseline="30000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84357" y="5619940"/>
            <a:ext cx="1335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</a:rPr>
              <a:t>7-8 H</a:t>
            </a:r>
            <a:endParaRPr lang="zh-CN" altLang="en-US" sz="2800" b="1" baseline="300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4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55746" y="790872"/>
            <a:ext cx="1846300" cy="1766392"/>
            <a:chOff x="4539572" y="2397168"/>
            <a:chExt cx="1846300" cy="176639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7" r="18409"/>
            <a:stretch>
              <a:fillRect/>
            </a:stretch>
          </p:blipFill>
          <p:spPr>
            <a:xfrm rot="5400000">
              <a:off x="4579526" y="2357214"/>
              <a:ext cx="1766392" cy="184630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5110566" y="3073333"/>
              <a:ext cx="651654" cy="9018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8865"/>
          <a:stretch>
            <a:fillRect/>
          </a:stretch>
        </p:blipFill>
        <p:spPr>
          <a:xfrm>
            <a:off x="4610856" y="776043"/>
            <a:ext cx="2002048" cy="178685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 rot="1164430">
            <a:off x="5294886" y="1265410"/>
            <a:ext cx="846457" cy="6257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10856" y="2005804"/>
            <a:ext cx="120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压缩机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98706" y="2706587"/>
            <a:ext cx="2782390" cy="2086793"/>
            <a:chOff x="3423080" y="3130550"/>
            <a:chExt cx="2782390" cy="2086793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3080" y="3130550"/>
              <a:ext cx="2782390" cy="2086793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 rot="1164430">
              <a:off x="3659893" y="3750143"/>
              <a:ext cx="587474" cy="8128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 rot="1164430">
              <a:off x="4596608" y="3834856"/>
              <a:ext cx="587474" cy="8128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106389" y="472216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打开阀门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rcRect l="2549"/>
          <a:stretch>
            <a:fillRect/>
          </a:stretch>
        </p:blipFill>
        <p:spPr>
          <a:xfrm>
            <a:off x="2149533" y="783811"/>
            <a:ext cx="2321735" cy="1784903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501324" y="16252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抽真空管路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86274" y="89812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关闭阀门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4" t="32811" r="21875" b="19507"/>
          <a:stretch>
            <a:fillRect/>
          </a:stretch>
        </p:blipFill>
        <p:spPr>
          <a:xfrm>
            <a:off x="3434835" y="2685157"/>
            <a:ext cx="2782391" cy="208679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765462" y="435071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确认管路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42485" y="4953000"/>
            <a:ext cx="2055302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先抽管道真空（</a:t>
            </a:r>
            <a:r>
              <a:rPr lang="en-US" altLang="zh-CN" dirty="0"/>
              <a:t>1h</a:t>
            </a:r>
            <a:r>
              <a:rPr lang="zh-CN" altLang="en-US" dirty="0"/>
              <a:t>），然后打开膜泵，随后打开分子泵（抽</a:t>
            </a:r>
            <a:r>
              <a:rPr lang="en-US" altLang="zh-CN" dirty="0"/>
              <a:t>3-4h</a:t>
            </a:r>
            <a:r>
              <a:rPr lang="zh-CN" altLang="en-US" dirty="0"/>
              <a:t>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2485" y="6938216"/>
            <a:ext cx="2055301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打开过滤器侧向阀门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2505851" y="5134053"/>
            <a:ext cx="1846298" cy="3590833"/>
            <a:chOff x="4336786" y="5250493"/>
            <a:chExt cx="1846298" cy="3590833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398" b="10046"/>
            <a:stretch>
              <a:fillRect/>
            </a:stretch>
          </p:blipFill>
          <p:spPr>
            <a:xfrm rot="5400000">
              <a:off x="3464519" y="6122761"/>
              <a:ext cx="3590833" cy="1846297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610856" y="665454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打开侧阀门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4336786" y="5784909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4365361" y="7388950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3716080" y="350979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打开</a:t>
            </a:r>
          </a:p>
        </p:txBody>
      </p:sp>
      <p:sp>
        <p:nvSpPr>
          <p:cNvPr id="28" name="矩形 27"/>
          <p:cNvSpPr/>
          <p:nvPr/>
        </p:nvSpPr>
        <p:spPr>
          <a:xfrm>
            <a:off x="4516300" y="3589268"/>
            <a:ext cx="506909" cy="3027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513356" y="6538106"/>
            <a:ext cx="1846297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抽管道气体</a:t>
            </a:r>
            <a:r>
              <a:rPr lang="en-US" altLang="zh-CN" dirty="0"/>
              <a:t>12+h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5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7428" y="695276"/>
            <a:ext cx="2263139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关闭</a:t>
            </a:r>
            <a:r>
              <a:rPr lang="en-US" altLang="zh-CN" dirty="0"/>
              <a:t>Scroll Pump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关闭</a:t>
            </a:r>
            <a:r>
              <a:rPr lang="en-US" altLang="zh-CN" dirty="0"/>
              <a:t>Service</a:t>
            </a:r>
            <a:r>
              <a:rPr lang="zh-CN" altLang="en-US" dirty="0"/>
              <a:t>，关闭分子泵，将氮气转接到分子泵上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898958" y="136597"/>
            <a:ext cx="2683651" cy="2270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打开</a:t>
            </a:r>
            <a:r>
              <a:rPr lang="en-US" altLang="zh-CN" sz="1600" dirty="0"/>
              <a:t>Service,</a:t>
            </a:r>
            <a:r>
              <a:rPr lang="zh-CN" altLang="en-US" sz="1600" dirty="0"/>
              <a:t>充入</a:t>
            </a:r>
            <a:r>
              <a:rPr lang="en-US" altLang="zh-CN" sz="1600" dirty="0"/>
              <a:t>Dump</a:t>
            </a:r>
            <a:r>
              <a:rPr lang="zh-CN" altLang="en-US" sz="1600" dirty="0"/>
              <a:t>氮气，</a:t>
            </a:r>
            <a:r>
              <a:rPr lang="en-US" altLang="zh-CN" sz="1600" dirty="0"/>
              <a:t>Dump (2)</a:t>
            </a:r>
            <a:r>
              <a:rPr lang="zh-CN" altLang="en-US" sz="1600" dirty="0"/>
              <a:t>为</a:t>
            </a:r>
            <a:r>
              <a:rPr lang="en-US" altLang="zh-CN" sz="1600" b="1" dirty="0">
                <a:solidFill>
                  <a:srgbClr val="FF0000"/>
                </a:solidFill>
              </a:rPr>
              <a:t>950-1000</a:t>
            </a:r>
            <a:r>
              <a:rPr lang="en-US" altLang="zh-CN" sz="1600" dirty="0"/>
              <a:t>mBar</a:t>
            </a:r>
            <a:r>
              <a:rPr lang="zh-CN" altLang="en-US" sz="1600" dirty="0"/>
              <a:t>，关闭分子泵阀门，抽气 </a:t>
            </a:r>
            <a:r>
              <a:rPr lang="en-US" altLang="zh-CN" sz="1600" dirty="0"/>
              <a:t>(</a:t>
            </a:r>
            <a:r>
              <a:rPr lang="zh-CN" altLang="en-US" sz="1600" b="1" dirty="0">
                <a:solidFill>
                  <a:srgbClr val="FF0000"/>
                </a:solidFill>
              </a:rPr>
              <a:t>至</a:t>
            </a:r>
            <a:r>
              <a:rPr lang="en-US" altLang="zh-CN" sz="1600" b="1" dirty="0">
                <a:solidFill>
                  <a:srgbClr val="FF0000"/>
                </a:solidFill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</a:rPr>
              <a:t>小于</a:t>
            </a:r>
            <a:r>
              <a:rPr lang="en-US" altLang="zh-CN" sz="1600" b="1" dirty="0">
                <a:solidFill>
                  <a:srgbClr val="FF0000"/>
                </a:solidFill>
              </a:rPr>
              <a:t>10mBar</a:t>
            </a:r>
            <a:r>
              <a:rPr lang="en-US" altLang="zh-CN" sz="1600" dirty="0"/>
              <a:t>)</a:t>
            </a:r>
            <a:r>
              <a:rPr lang="zh-CN" altLang="en-US" sz="1600" dirty="0"/>
              <a:t>，重复三次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使用</a:t>
            </a:r>
            <a:r>
              <a:rPr lang="en-US" altLang="zh-CN" sz="1600" b="1" dirty="0"/>
              <a:t>He</a:t>
            </a:r>
            <a:r>
              <a:rPr lang="zh-CN" altLang="en-US" sz="1600" b="1" dirty="0"/>
              <a:t>气</a:t>
            </a:r>
            <a:r>
              <a:rPr lang="zh-CN" altLang="en-US" sz="1600" dirty="0"/>
              <a:t>洗气一次，然后抽</a:t>
            </a:r>
            <a:r>
              <a:rPr lang="en-US" altLang="zh-CN" sz="1600" dirty="0"/>
              <a:t>12h </a:t>
            </a:r>
            <a:r>
              <a:rPr lang="zh-CN" altLang="en-US" sz="1600" dirty="0"/>
              <a:t>左右</a:t>
            </a:r>
            <a:endParaRPr lang="en-US" altLang="zh-CN" sz="16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410567" y="241080"/>
            <a:ext cx="1390765" cy="1854715"/>
            <a:chOff x="2659073" y="207891"/>
            <a:chExt cx="1390765" cy="1854715"/>
          </a:xfrm>
        </p:grpSpPr>
        <p:pic>
          <p:nvPicPr>
            <p:cNvPr id="5" name="图片 4" descr="银色的机械&#10;&#10;AI 生成的内容可能不正确。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9073" y="207891"/>
              <a:ext cx="1390765" cy="185471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3210396" y="1122547"/>
              <a:ext cx="620838" cy="463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2419" y="2422074"/>
            <a:ext cx="5859780" cy="2530926"/>
            <a:chOff x="259080" y="2674567"/>
            <a:chExt cx="5859780" cy="2530926"/>
          </a:xfrm>
        </p:grpSpPr>
        <p:pic>
          <p:nvPicPr>
            <p:cNvPr id="7" name="图片 6" descr="图示, 示意图&#10;&#10;AI 生成的内容可能不正确。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17"/>
            <a:stretch>
              <a:fillRect/>
            </a:stretch>
          </p:blipFill>
          <p:spPr>
            <a:xfrm>
              <a:off x="259080" y="2674567"/>
              <a:ext cx="5859780" cy="2530926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3188970" y="28346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391150" y="40157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15619" y="476833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6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6520" y="-67969"/>
            <a:ext cx="2263139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洗气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7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6520" y="-67969"/>
            <a:ext cx="2263139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补气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46606" y="87779"/>
            <a:ext cx="32111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关闭分子泵；关闭</a:t>
            </a:r>
            <a:r>
              <a:rPr lang="en-US" altLang="zh-CN" dirty="0"/>
              <a:t>Scroll Pump</a:t>
            </a:r>
          </a:p>
          <a:p>
            <a:r>
              <a:rPr lang="zh-CN" altLang="zh-CN" dirty="0"/>
              <a:t>关闭</a:t>
            </a:r>
            <a:r>
              <a:rPr lang="en-US" altLang="zh-CN" dirty="0" err="1"/>
              <a:t>cryoout&amp;dumpout</a:t>
            </a:r>
            <a:endParaRPr lang="en-US" altLang="zh-CN" dirty="0"/>
          </a:p>
          <a:p>
            <a:r>
              <a:rPr lang="zh-CN" altLang="en-US" dirty="0"/>
              <a:t>关闭后阀门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351826" y="988310"/>
            <a:ext cx="5249930" cy="2644479"/>
            <a:chOff x="653303" y="2308521"/>
            <a:chExt cx="5249930" cy="2644479"/>
          </a:xfrm>
        </p:grpSpPr>
        <p:pic>
          <p:nvPicPr>
            <p:cNvPr id="8" name="图片 7" descr="电脑屏幕的照片&#10;&#10;AI 生成的内容可能不正确。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82" t="11179" r="14166" b="37408"/>
            <a:stretch>
              <a:fillRect/>
            </a:stretch>
          </p:blipFill>
          <p:spPr>
            <a:xfrm>
              <a:off x="653303" y="2308521"/>
              <a:ext cx="5249930" cy="2644479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3096401" y="3106244"/>
              <a:ext cx="646924" cy="5227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953651" y="3629025"/>
              <a:ext cx="646924" cy="5227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391801" y="3106243"/>
              <a:ext cx="646924" cy="5227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1515" y="2599096"/>
              <a:ext cx="6469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关闭</a:t>
              </a:r>
              <a:endParaRPr lang="en-US" altLang="zh-CN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51826" y="3756435"/>
            <a:ext cx="1846298" cy="3590833"/>
            <a:chOff x="2517753" y="2188283"/>
            <a:chExt cx="1846298" cy="3590833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398" b="10046"/>
            <a:stretch>
              <a:fillRect/>
            </a:stretch>
          </p:blipFill>
          <p:spPr>
            <a:xfrm rot="5400000">
              <a:off x="1645486" y="3060551"/>
              <a:ext cx="3590833" cy="184629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517753" y="225543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打开侧阀门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2517753" y="2722699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2546328" y="4326740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346984" y="3756435"/>
            <a:ext cx="3303400" cy="2477550"/>
            <a:chOff x="2631678" y="4830170"/>
            <a:chExt cx="3303400" cy="2477550"/>
          </a:xfrm>
        </p:grpSpPr>
        <p:pic>
          <p:nvPicPr>
            <p:cNvPr id="21" name="图片 20" descr="图片包含 桌子, 对, 躺, 关&#10;&#10;AI 生成的内容可能不正确。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1678" y="4830170"/>
              <a:ext cx="3303400" cy="2477550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2631678" y="5098645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打开后阀门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737248" y="2758692"/>
            <a:ext cx="203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DUMP</a:t>
            </a:r>
            <a:r>
              <a:rPr lang="zh-CN" altLang="en-US" b="1" dirty="0">
                <a:solidFill>
                  <a:srgbClr val="FF0000"/>
                </a:solidFill>
              </a:rPr>
              <a:t>补气至</a:t>
            </a:r>
            <a:r>
              <a:rPr lang="en-US" altLang="zh-CN" b="1" dirty="0">
                <a:solidFill>
                  <a:srgbClr val="FF0000"/>
                </a:solidFill>
              </a:rPr>
              <a:t>950mBar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226699" y="6357631"/>
            <a:ext cx="398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补气结束后，关闭</a:t>
            </a:r>
            <a:r>
              <a:rPr lang="en-US" altLang="zh-CN" dirty="0"/>
              <a:t>Dump in</a:t>
            </a:r>
            <a:r>
              <a:rPr lang="zh-CN" altLang="en-US" dirty="0"/>
              <a:t>，抽出管道内剩余气体至</a:t>
            </a:r>
            <a:r>
              <a:rPr lang="en-US" altLang="zh-CN" dirty="0"/>
              <a:t>10mbar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D263-5972-F37C-3B2C-4DEC0A2D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9AB83D5-F36A-4810-60D1-FF26678CD7D8}"/>
              </a:ext>
            </a:extLst>
          </p:cNvPr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8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DA64FF-F1D9-5C7C-6AC4-BC2242495FBB}"/>
              </a:ext>
            </a:extLst>
          </p:cNvPr>
          <p:cNvSpPr txBox="1"/>
          <p:nvPr/>
        </p:nvSpPr>
        <p:spPr>
          <a:xfrm>
            <a:off x="636520" y="-67969"/>
            <a:ext cx="2263139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降温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8D0D749-88E1-A327-4ED1-F35FD495B83F}"/>
              </a:ext>
            </a:extLst>
          </p:cNvPr>
          <p:cNvGrpSpPr/>
          <p:nvPr/>
        </p:nvGrpSpPr>
        <p:grpSpPr>
          <a:xfrm>
            <a:off x="636520" y="974046"/>
            <a:ext cx="1846298" cy="3590833"/>
            <a:chOff x="2517753" y="2188283"/>
            <a:chExt cx="1846298" cy="3590833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C3E91EE-A986-65E6-B2ED-ED400EF9C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398" b="10046"/>
            <a:stretch>
              <a:fillRect/>
            </a:stretch>
          </p:blipFill>
          <p:spPr>
            <a:xfrm rot="5400000">
              <a:off x="1645486" y="3060551"/>
              <a:ext cx="3590833" cy="1846297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92CADC2-CBE9-6572-9DBC-A317B35C0322}"/>
                </a:ext>
              </a:extLst>
            </p:cNvPr>
            <p:cNvSpPr txBox="1"/>
            <p:nvPr/>
          </p:nvSpPr>
          <p:spPr>
            <a:xfrm>
              <a:off x="2517753" y="225543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打开侧阀门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BA4113B-1981-988D-9587-E0DB5EB8BCF7}"/>
                </a:ext>
              </a:extLst>
            </p:cNvPr>
            <p:cNvSpPr/>
            <p:nvPr/>
          </p:nvSpPr>
          <p:spPr>
            <a:xfrm>
              <a:off x="2517753" y="2722699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CFFAFC-9872-B06E-3996-48A745B93ACB}"/>
                </a:ext>
              </a:extLst>
            </p:cNvPr>
            <p:cNvSpPr/>
            <p:nvPr/>
          </p:nvSpPr>
          <p:spPr>
            <a:xfrm>
              <a:off x="2546328" y="4326740"/>
              <a:ext cx="1052402" cy="6551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DC69AC7-172C-29E7-BA24-D3388F02E482}"/>
              </a:ext>
            </a:extLst>
          </p:cNvPr>
          <p:cNvGrpSpPr/>
          <p:nvPr/>
        </p:nvGrpSpPr>
        <p:grpSpPr>
          <a:xfrm>
            <a:off x="2631678" y="974046"/>
            <a:ext cx="3303400" cy="2477550"/>
            <a:chOff x="2631678" y="4830170"/>
            <a:chExt cx="3303400" cy="2477550"/>
          </a:xfrm>
        </p:grpSpPr>
        <p:pic>
          <p:nvPicPr>
            <p:cNvPr id="21" name="图片 20" descr="图片包含 桌子, 对, 躺, 关&#10;&#10;AI 生成的内容可能不正确。">
              <a:extLst>
                <a:ext uri="{FF2B5EF4-FFF2-40B4-BE49-F238E27FC236}">
                  <a16:creationId xmlns:a16="http://schemas.microsoft.com/office/drawing/2014/main" id="{DAF2F5D2-E6E4-7318-2607-24EDBBF7B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1678" y="4830170"/>
              <a:ext cx="3303400" cy="2477550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137C4D8-4784-4950-7DC0-B7C8774DE0C9}"/>
                </a:ext>
              </a:extLst>
            </p:cNvPr>
            <p:cNvSpPr txBox="1"/>
            <p:nvPr/>
          </p:nvSpPr>
          <p:spPr>
            <a:xfrm>
              <a:off x="2631678" y="5098645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打开后阀门</a:t>
              </a: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8CBE7F1F-1A6A-D6E3-B9C1-ED65519BCCF6}"/>
              </a:ext>
            </a:extLst>
          </p:cNvPr>
          <p:cNvSpPr txBox="1"/>
          <p:nvPr/>
        </p:nvSpPr>
        <p:spPr>
          <a:xfrm>
            <a:off x="2511393" y="3575242"/>
            <a:ext cx="398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补气结束后，关闭</a:t>
            </a:r>
            <a:r>
              <a:rPr lang="en-US" altLang="zh-CN" dirty="0"/>
              <a:t>Dump in</a:t>
            </a:r>
            <a:r>
              <a:rPr lang="zh-CN" altLang="en-US" dirty="0"/>
              <a:t>，抽出管道内剩余气体至</a:t>
            </a:r>
            <a:r>
              <a:rPr lang="en-US" altLang="zh-CN" dirty="0"/>
              <a:t>10mbar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3A53C7-BF6A-CC53-B790-4B6EAE9377A5}"/>
              </a:ext>
            </a:extLst>
          </p:cNvPr>
          <p:cNvSpPr txBox="1"/>
          <p:nvPr/>
        </p:nvSpPr>
        <p:spPr>
          <a:xfrm>
            <a:off x="351826" y="4716544"/>
            <a:ext cx="5925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打开图</a:t>
            </a:r>
            <a:r>
              <a:rPr lang="en-US" altLang="zh-CN" sz="1800" dirty="0"/>
              <a:t>7</a:t>
            </a:r>
            <a:r>
              <a:rPr lang="zh-CN" altLang="en-US" sz="1800" dirty="0"/>
              <a:t>关闭的阀门，打开</a:t>
            </a:r>
            <a:r>
              <a:rPr lang="zh-CN" altLang="en-US" sz="1800" b="1" dirty="0"/>
              <a:t>水冷</a:t>
            </a:r>
            <a:r>
              <a:rPr lang="zh-CN" altLang="en-US" sz="1800" dirty="0"/>
              <a:t>，</a:t>
            </a:r>
            <a:r>
              <a:rPr lang="zh-CN" altLang="en-US" sz="1800" b="1" dirty="0"/>
              <a:t>打开压缩机（参考步骤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endParaRPr lang="en-US" altLang="zh-CN" sz="1800" dirty="0"/>
          </a:p>
          <a:p>
            <a:r>
              <a:rPr lang="zh-CN" altLang="en-US" sz="1800" dirty="0"/>
              <a:t>软件上点击</a:t>
            </a:r>
            <a:r>
              <a:rPr lang="en-US" altLang="zh-CN" sz="1800" b="1" dirty="0"/>
              <a:t>Cool Down</a:t>
            </a:r>
            <a:r>
              <a:rPr lang="zh-CN" altLang="en-US" sz="1800" dirty="0"/>
              <a:t>后会自动开启</a:t>
            </a:r>
          </a:p>
        </p:txBody>
      </p:sp>
    </p:spTree>
    <p:extLst>
      <p:ext uri="{BB962C8B-B14F-4D97-AF65-F5344CB8AC3E}">
        <p14:creationId xmlns:p14="http://schemas.microsoft.com/office/powerpoint/2010/main" val="399402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7133" y="-9076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8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6520" y="-67969"/>
            <a:ext cx="2263139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降温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1826" y="1323386"/>
            <a:ext cx="58203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样品腔补气</a:t>
            </a:r>
            <a:r>
              <a:rPr lang="en-US" altLang="zh-CN" dirty="0"/>
              <a:t>-  </a:t>
            </a:r>
            <a:r>
              <a:rPr lang="zh-CN" altLang="en-US" dirty="0"/>
              <a:t>打开图</a:t>
            </a:r>
            <a:r>
              <a:rPr lang="en-US" altLang="zh-CN" dirty="0"/>
              <a:t>7</a:t>
            </a:r>
            <a:r>
              <a:rPr lang="zh-CN" altLang="en-US" dirty="0"/>
              <a:t>关闭的阀门，打开水冷，打开压缩机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软件上点击降温后会自动开启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C421EC1-074E-BFE5-6CDB-8557BCB5691C}"/>
              </a:ext>
            </a:extLst>
          </p:cNvPr>
          <p:cNvSpPr txBox="1"/>
          <p:nvPr/>
        </p:nvSpPr>
        <p:spPr>
          <a:xfrm>
            <a:off x="1714500" y="1719169"/>
            <a:ext cx="3429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* 磁体电源链接SU操作</a:t>
            </a:r>
          </a:p>
          <a:p>
            <a:r>
              <a:rPr lang="zh-CN" altLang="en-US" dirty="0"/>
              <a:t>reset磁体电源为默认设置，关掉磁体电源（前后都要），su和GHS，等待几分钟</a:t>
            </a:r>
          </a:p>
          <a:p>
            <a:endParaRPr lang="zh-CN" altLang="en-US" dirty="0"/>
          </a:p>
          <a:p>
            <a:r>
              <a:rPr lang="zh-CN" altLang="en-US" dirty="0"/>
              <a:t>打开ghs，等一会后</a:t>
            </a:r>
          </a:p>
          <a:p>
            <a:r>
              <a:rPr lang="zh-CN" altLang="en-US" dirty="0"/>
              <a:t>打开磁体电源，如果进去时没有显示红色的错误，预示着可以连上，重新设置general，将连接改为ethernet并改相应的IP地址，</a:t>
            </a:r>
          </a:p>
          <a:p>
            <a:endParaRPr lang="zh-CN" altLang="en-US" dirty="0"/>
          </a:p>
          <a:p>
            <a:r>
              <a:rPr lang="zh-CN" altLang="en-US" dirty="0"/>
              <a:t>等几分钟，打开su</a:t>
            </a:r>
          </a:p>
          <a:p>
            <a:endParaRPr lang="zh-CN" altLang="en-US" dirty="0"/>
          </a:p>
          <a:p>
            <a:r>
              <a:rPr lang="zh-CN" altLang="en-US" dirty="0"/>
              <a:t>或者以下操作（可尝试）</a:t>
            </a:r>
          </a:p>
          <a:p>
            <a:r>
              <a:rPr lang="zh-CN" altLang="en-US" dirty="0"/>
              <a:t>磁体电源网络连接SU:</a:t>
            </a:r>
          </a:p>
          <a:p>
            <a:r>
              <a:rPr lang="zh-CN" altLang="en-US" dirty="0"/>
              <a:t>先把参数调位默认，setup-change to default</a:t>
            </a:r>
          </a:p>
          <a:p>
            <a:r>
              <a:rPr lang="zh-CN" altLang="en-US" dirty="0"/>
              <a:t>然后关掉磁体电源（前面按钮和后面按钮）和SU</a:t>
            </a:r>
          </a:p>
          <a:p>
            <a:r>
              <a:rPr lang="zh-CN" altLang="en-US" dirty="0"/>
              <a:t>然后先开磁体电源然后改参数，把连接的模式改为以太连接并且改为特定IP</a:t>
            </a:r>
          </a:p>
          <a:p>
            <a:r>
              <a:rPr lang="zh-CN" altLang="en-US" dirty="0"/>
              <a:t>打开SU开关</a:t>
            </a:r>
          </a:p>
        </p:txBody>
      </p:sp>
    </p:spTree>
    <p:extLst>
      <p:ext uri="{BB962C8B-B14F-4D97-AF65-F5344CB8AC3E}">
        <p14:creationId xmlns:p14="http://schemas.microsoft.com/office/powerpoint/2010/main" val="172459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15349" y="456472"/>
            <a:ext cx="5827302" cy="4276530"/>
            <a:chOff x="495818" y="1694722"/>
            <a:chExt cx="5827302" cy="4276530"/>
          </a:xfrm>
        </p:grpSpPr>
        <p:sp>
          <p:nvSpPr>
            <p:cNvPr id="2" name="矩形 1"/>
            <p:cNvSpPr/>
            <p:nvPr/>
          </p:nvSpPr>
          <p:spPr>
            <a:xfrm>
              <a:off x="1092204" y="5029556"/>
              <a:ext cx="808034" cy="9416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Dump</a:t>
              </a:r>
              <a:endPara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5175982" y="2413895"/>
              <a:ext cx="807138" cy="9416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Unit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>
              <a:stCxn id="2" idx="0"/>
            </p:cNvCxnSpPr>
            <p:nvPr/>
          </p:nvCxnSpPr>
          <p:spPr>
            <a:xfrm flipV="1">
              <a:off x="1496221" y="4337050"/>
              <a:ext cx="448" cy="692506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2346955" y="2039684"/>
              <a:ext cx="0" cy="2297366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9"/>
            <p:cNvGrpSpPr>
              <a:grpSpLocks noChangeAspect="1"/>
            </p:cNvGrpSpPr>
            <p:nvPr/>
          </p:nvGrpSpPr>
          <p:grpSpPr>
            <a:xfrm flipV="1">
              <a:off x="1684238" y="4575303"/>
              <a:ext cx="216000" cy="216000"/>
              <a:chOff x="2514085" y="5255597"/>
              <a:chExt cx="381000" cy="38100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2514085" y="5255597"/>
                <a:ext cx="381000" cy="381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2546422" y="5262740"/>
                <a:ext cx="316326" cy="27657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21" name="直接连接符 20"/>
            <p:cNvCxnSpPr/>
            <p:nvPr/>
          </p:nvCxnSpPr>
          <p:spPr>
            <a:xfrm>
              <a:off x="1495007" y="4691138"/>
              <a:ext cx="18000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77052" y="4337050"/>
              <a:ext cx="5073507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V="1">
              <a:off x="784646" y="2044700"/>
              <a:ext cx="0" cy="2297366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>
              <a:grpSpLocks noChangeAspect="1"/>
            </p:cNvGrpSpPr>
            <p:nvPr/>
          </p:nvGrpSpPr>
          <p:grpSpPr>
            <a:xfrm>
              <a:off x="1001791" y="4219545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4" name="椭圆 3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>
                <a:stCxn id="4" idx="1"/>
                <a:endCxn id="4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>
                <a:stCxn id="4" idx="7"/>
                <a:endCxn id="4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>
              <a:grpSpLocks noChangeAspect="1"/>
            </p:cNvGrpSpPr>
            <p:nvPr/>
          </p:nvGrpSpPr>
          <p:grpSpPr>
            <a:xfrm>
              <a:off x="1747251" y="4230687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29" name="椭圆 28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/>
              <p:cNvCxnSpPr>
                <a:stCxn id="29" idx="1"/>
                <a:endCxn id="29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>
                <a:stCxn id="29" idx="7"/>
                <a:endCxn id="29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直接连接符 31"/>
            <p:cNvCxnSpPr/>
            <p:nvPr/>
          </p:nvCxnSpPr>
          <p:spPr>
            <a:xfrm>
              <a:off x="776634" y="2044700"/>
              <a:ext cx="4122391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4899025" y="2039684"/>
              <a:ext cx="0" cy="1920205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4359905" y="2039684"/>
              <a:ext cx="0" cy="3227641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4899025" y="3952027"/>
              <a:ext cx="49530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V="1">
              <a:off x="5394325" y="3355591"/>
              <a:ext cx="0" cy="60429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V="1">
              <a:off x="5850559" y="3355591"/>
              <a:ext cx="0" cy="98905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5285664" y="3578166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48" name="椭圆 47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" name="直接连接符 48"/>
              <p:cNvCxnSpPr>
                <a:stCxn id="48" idx="1"/>
                <a:endCxn id="48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>
                <a:stCxn id="48" idx="7"/>
                <a:endCxn id="48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5742559" y="3579571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56" name="椭圆 55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7" name="直接连接符 56"/>
              <p:cNvCxnSpPr>
                <a:stCxn id="56" idx="1"/>
                <a:endCxn id="56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>
                <a:stCxn id="56" idx="7"/>
                <a:endCxn id="56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组合 67"/>
            <p:cNvGrpSpPr>
              <a:grpSpLocks noChangeAspect="1"/>
            </p:cNvGrpSpPr>
            <p:nvPr/>
          </p:nvGrpSpPr>
          <p:grpSpPr>
            <a:xfrm>
              <a:off x="2236679" y="3331704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69" name="椭圆 68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0" name="直接连接符 69"/>
              <p:cNvCxnSpPr>
                <a:stCxn id="69" idx="1"/>
                <a:endCxn id="69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>
                <a:stCxn id="69" idx="7"/>
                <a:endCxn id="69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" name="直接连接符 71"/>
            <p:cNvCxnSpPr/>
            <p:nvPr/>
          </p:nvCxnSpPr>
          <p:spPr>
            <a:xfrm>
              <a:off x="2344679" y="3700551"/>
              <a:ext cx="639133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组合 73"/>
            <p:cNvGrpSpPr>
              <a:grpSpLocks noChangeAspect="1"/>
            </p:cNvGrpSpPr>
            <p:nvPr/>
          </p:nvGrpSpPr>
          <p:grpSpPr>
            <a:xfrm>
              <a:off x="2551040" y="3595725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75" name="椭圆 74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6" name="直接连接符 75"/>
              <p:cNvCxnSpPr>
                <a:stCxn id="75" idx="1"/>
                <a:endCxn id="75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>
                <a:stCxn id="75" idx="7"/>
                <a:endCxn id="75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组合 81"/>
            <p:cNvGrpSpPr>
              <a:grpSpLocks noChangeAspect="1"/>
            </p:cNvGrpSpPr>
            <p:nvPr/>
          </p:nvGrpSpPr>
          <p:grpSpPr>
            <a:xfrm flipV="1">
              <a:off x="3783263" y="3892539"/>
              <a:ext cx="252000" cy="252000"/>
              <a:chOff x="2514085" y="5255597"/>
              <a:chExt cx="381000" cy="381000"/>
            </a:xfrm>
          </p:grpSpPr>
          <p:sp>
            <p:nvSpPr>
              <p:cNvPr id="83" name="椭圆 82"/>
              <p:cNvSpPr/>
              <p:nvPr/>
            </p:nvSpPr>
            <p:spPr>
              <a:xfrm>
                <a:off x="2514085" y="5255597"/>
                <a:ext cx="381000" cy="381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等腰三角形 83"/>
              <p:cNvSpPr/>
              <p:nvPr/>
            </p:nvSpPr>
            <p:spPr>
              <a:xfrm>
                <a:off x="2546422" y="5262740"/>
                <a:ext cx="316326" cy="27657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85" name="等腰三角形 84"/>
            <p:cNvSpPr/>
            <p:nvPr/>
          </p:nvSpPr>
          <p:spPr>
            <a:xfrm rot="1800000" flipV="1">
              <a:off x="2918551" y="3615080"/>
              <a:ext cx="239113" cy="209065"/>
            </a:xfrm>
            <a:prstGeom prst="triangl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6" name="组合 85"/>
            <p:cNvGrpSpPr>
              <a:grpSpLocks noChangeAspect="1"/>
            </p:cNvGrpSpPr>
            <p:nvPr/>
          </p:nvGrpSpPr>
          <p:grpSpPr>
            <a:xfrm>
              <a:off x="2236678" y="2990624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87" name="椭圆 86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8" name="直接连接符 87"/>
              <p:cNvCxnSpPr>
                <a:stCxn id="87" idx="1"/>
                <a:endCxn id="87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>
                <a:stCxn id="87" idx="7"/>
                <a:endCxn id="87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>
              <a:grpSpLocks noChangeAspect="1"/>
            </p:cNvGrpSpPr>
            <p:nvPr/>
          </p:nvGrpSpPr>
          <p:grpSpPr>
            <a:xfrm>
              <a:off x="2243135" y="2138175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92" name="椭圆 91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3" name="直接连接符 92"/>
              <p:cNvCxnSpPr>
                <a:stCxn id="92" idx="1"/>
                <a:endCxn id="92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>
                <a:stCxn id="92" idx="7"/>
                <a:endCxn id="92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组合 99"/>
            <p:cNvGrpSpPr/>
            <p:nvPr/>
          </p:nvGrpSpPr>
          <p:grpSpPr>
            <a:xfrm>
              <a:off x="2238480" y="3996034"/>
              <a:ext cx="216000" cy="216000"/>
              <a:chOff x="2266454" y="4780707"/>
              <a:chExt cx="216000" cy="216000"/>
            </a:xfrm>
          </p:grpSpPr>
          <p:sp>
            <p:nvSpPr>
              <p:cNvPr id="96" name="椭圆 95"/>
              <p:cNvSpPr/>
              <p:nvPr/>
            </p:nvSpPr>
            <p:spPr>
              <a:xfrm>
                <a:off x="2266454" y="4780707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箭头: 下 98"/>
              <p:cNvSpPr/>
              <p:nvPr/>
            </p:nvSpPr>
            <p:spPr>
              <a:xfrm flipV="1">
                <a:off x="2300148" y="4808212"/>
                <a:ext cx="150024" cy="160990"/>
              </a:xfrm>
              <a:prstGeom prst="downArrow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2223291" y="2468862"/>
              <a:ext cx="252000" cy="379290"/>
              <a:chOff x="2042316" y="3326112"/>
              <a:chExt cx="252000" cy="379290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2042316" y="3326112"/>
                <a:ext cx="252000" cy="3792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/>
              </a:p>
            </p:txBody>
          </p:sp>
          <p:cxnSp>
            <p:nvCxnSpPr>
              <p:cNvPr id="102" name="直接箭头连接符 101"/>
              <p:cNvCxnSpPr/>
              <p:nvPr/>
            </p:nvCxnSpPr>
            <p:spPr>
              <a:xfrm flipV="1">
                <a:off x="2131410" y="3352394"/>
                <a:ext cx="0" cy="326726"/>
              </a:xfrm>
              <a:prstGeom prst="straightConnector1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箭头连接符 102"/>
              <p:cNvCxnSpPr/>
              <p:nvPr/>
            </p:nvCxnSpPr>
            <p:spPr>
              <a:xfrm flipV="1">
                <a:off x="2211181" y="3352394"/>
                <a:ext cx="0" cy="326726"/>
              </a:xfrm>
              <a:prstGeom prst="straightConnector1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组合 104"/>
            <p:cNvGrpSpPr>
              <a:grpSpLocks noChangeAspect="1"/>
            </p:cNvGrpSpPr>
            <p:nvPr/>
          </p:nvGrpSpPr>
          <p:grpSpPr>
            <a:xfrm>
              <a:off x="2697008" y="2547272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106" name="椭圆 105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7" name="直接连接符 106"/>
              <p:cNvCxnSpPr>
                <a:stCxn id="106" idx="1"/>
                <a:endCxn id="106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>
                <a:stCxn id="106" idx="7"/>
                <a:endCxn id="106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直接连接符 108"/>
            <p:cNvCxnSpPr/>
            <p:nvPr/>
          </p:nvCxnSpPr>
          <p:spPr>
            <a:xfrm>
              <a:off x="2485442" y="2657008"/>
              <a:ext cx="21600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组合 109"/>
            <p:cNvGrpSpPr>
              <a:grpSpLocks noChangeAspect="1"/>
            </p:cNvGrpSpPr>
            <p:nvPr/>
          </p:nvGrpSpPr>
          <p:grpSpPr>
            <a:xfrm>
              <a:off x="3345904" y="4229050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111" name="椭圆 110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2" name="直接连接符 111"/>
              <p:cNvCxnSpPr>
                <a:stCxn id="111" idx="1"/>
                <a:endCxn id="111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>
                <a:stCxn id="111" idx="7"/>
                <a:endCxn id="111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直接连接符 113"/>
            <p:cNvCxnSpPr/>
            <p:nvPr/>
          </p:nvCxnSpPr>
          <p:spPr>
            <a:xfrm rot="16200000">
              <a:off x="3819262" y="4237545"/>
              <a:ext cx="18000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14"/>
            <p:cNvGrpSpPr>
              <a:grpSpLocks noChangeAspect="1"/>
            </p:cNvGrpSpPr>
            <p:nvPr/>
          </p:nvGrpSpPr>
          <p:grpSpPr>
            <a:xfrm>
              <a:off x="4251905" y="3006843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116" name="椭圆 115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7" name="直接连接符 116"/>
              <p:cNvCxnSpPr>
                <a:stCxn id="116" idx="1"/>
                <a:endCxn id="116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>
                <a:stCxn id="116" idx="7"/>
                <a:endCxn id="116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>
              <a:grpSpLocks noChangeAspect="1"/>
            </p:cNvGrpSpPr>
            <p:nvPr/>
          </p:nvGrpSpPr>
          <p:grpSpPr>
            <a:xfrm>
              <a:off x="3141572" y="1936700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124" name="椭圆 123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5" name="直接连接符 124"/>
              <p:cNvCxnSpPr>
                <a:stCxn id="124" idx="1"/>
                <a:endCxn id="124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124" idx="7"/>
                <a:endCxn id="124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组合 126"/>
            <p:cNvGrpSpPr>
              <a:grpSpLocks noChangeAspect="1"/>
            </p:cNvGrpSpPr>
            <p:nvPr/>
          </p:nvGrpSpPr>
          <p:grpSpPr>
            <a:xfrm flipV="1">
              <a:off x="3609975" y="2210076"/>
              <a:ext cx="252000" cy="252000"/>
              <a:chOff x="2514085" y="5255597"/>
              <a:chExt cx="381000" cy="381000"/>
            </a:xfrm>
          </p:grpSpPr>
          <p:sp>
            <p:nvSpPr>
              <p:cNvPr id="128" name="椭圆 127"/>
              <p:cNvSpPr/>
              <p:nvPr/>
            </p:nvSpPr>
            <p:spPr>
              <a:xfrm>
                <a:off x="2514085" y="5255597"/>
                <a:ext cx="381000" cy="381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等腰三角形 128"/>
              <p:cNvSpPr/>
              <p:nvPr/>
            </p:nvSpPr>
            <p:spPr>
              <a:xfrm>
                <a:off x="2546422" y="5262740"/>
                <a:ext cx="316326" cy="27657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30" name="直接连接符 129"/>
            <p:cNvCxnSpPr/>
            <p:nvPr/>
          </p:nvCxnSpPr>
          <p:spPr>
            <a:xfrm rot="16200000">
              <a:off x="3640345" y="2129684"/>
              <a:ext cx="18000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本框 131"/>
            <p:cNvSpPr txBox="1"/>
            <p:nvPr/>
          </p:nvSpPr>
          <p:spPr>
            <a:xfrm>
              <a:off x="495818" y="4439637"/>
              <a:ext cx="94675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Dump-in</a:t>
              </a:r>
              <a:endParaRPr lang="zh-CN" altLang="en-US" sz="1400" dirty="0"/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1405359" y="3994440"/>
              <a:ext cx="96914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Dump-out</a:t>
              </a:r>
              <a:endParaRPr lang="zh-CN" altLang="en-US" sz="1400" dirty="0"/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1893291" y="4577569"/>
              <a:ext cx="116718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Dump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Pressure</a:t>
              </a:r>
              <a:endParaRPr lang="zh-CN" altLang="en-US" sz="1400" dirty="0"/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3085131" y="4436888"/>
              <a:ext cx="96914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Cryo-out</a:t>
              </a:r>
              <a:endParaRPr lang="zh-CN" altLang="en-US" sz="1400" dirty="0"/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2901884" y="1694722"/>
              <a:ext cx="96914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Cryo-in</a:t>
              </a:r>
              <a:endParaRPr lang="zh-CN" altLang="en-US" sz="1400" dirty="0"/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3516204" y="3501720"/>
              <a:ext cx="77310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Cryo-out Pressure</a:t>
              </a:r>
              <a:endParaRPr lang="zh-CN" altLang="en-US" sz="1400" dirty="0"/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386457" y="2431480"/>
              <a:ext cx="77310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Cryo-in Pressure</a:t>
              </a:r>
              <a:endParaRPr lang="zh-CN" altLang="en-US" sz="1400" dirty="0"/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3631285" y="2982750"/>
              <a:ext cx="77310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Bypass</a:t>
              </a:r>
              <a:endParaRPr lang="zh-CN" altLang="en-US" sz="1400" dirty="0"/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4979150" y="3562121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5965330" y="3564967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V2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2386459" y="3980135"/>
              <a:ext cx="116718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Scral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 Pump</a:t>
              </a:r>
              <a:endParaRPr lang="zh-CN" altLang="en-US" sz="1400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2477735" y="3370915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V5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1903708" y="3308764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V6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1912451" y="2973237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V7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2632845" y="2302921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V8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1940936" y="2129343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V9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4425838" y="2999786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V4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1" name="组合 150"/>
            <p:cNvGrpSpPr>
              <a:grpSpLocks noChangeAspect="1"/>
            </p:cNvGrpSpPr>
            <p:nvPr/>
          </p:nvGrpSpPr>
          <p:grpSpPr>
            <a:xfrm>
              <a:off x="4251905" y="4683303"/>
              <a:ext cx="216000" cy="216000"/>
              <a:chOff x="1643062" y="4691063"/>
              <a:chExt cx="381000" cy="381000"/>
            </a:xfrm>
            <a:solidFill>
              <a:schemeClr val="bg1"/>
            </a:solidFill>
          </p:grpSpPr>
          <p:sp>
            <p:nvSpPr>
              <p:cNvPr id="152" name="椭圆 151"/>
              <p:cNvSpPr/>
              <p:nvPr/>
            </p:nvSpPr>
            <p:spPr>
              <a:xfrm>
                <a:off x="1643062" y="4691063"/>
                <a:ext cx="381000" cy="381000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3" name="直接连接符 152"/>
              <p:cNvCxnSpPr>
                <a:stCxn id="152" idx="1"/>
                <a:endCxn id="152" idx="5"/>
              </p:cNvCxnSpPr>
              <p:nvPr/>
            </p:nvCxnSpPr>
            <p:spPr>
              <a:xfrm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>
                <a:stCxn id="152" idx="7"/>
                <a:endCxn id="152" idx="3"/>
              </p:cNvCxnSpPr>
              <p:nvPr/>
            </p:nvCxnSpPr>
            <p:spPr>
              <a:xfrm flipH="1">
                <a:off x="1698858" y="4746859"/>
                <a:ext cx="269408" cy="26940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5" name="文本框 154"/>
            <p:cNvSpPr txBox="1"/>
            <p:nvPr/>
          </p:nvSpPr>
          <p:spPr>
            <a:xfrm>
              <a:off x="3931516" y="4671383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V3</a:t>
              </a:r>
              <a:endParaRPr lang="zh-CN" alt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4443316" y="4657009"/>
              <a:ext cx="96914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Service</a:t>
              </a:r>
              <a:endParaRPr lang="zh-CN" altLang="en-US" sz="1400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474666" y="2521250"/>
              <a:ext cx="81286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Gas Filter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18296" y="8531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管路结构示意图：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已生成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2005"/>
            <a:ext cx="6858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68082" y="-1117783"/>
            <a:ext cx="4521836" cy="803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267340" y="1481000"/>
            <a:ext cx="6325200" cy="7600014"/>
            <a:chOff x="267340" y="1481000"/>
            <a:chExt cx="6325200" cy="7600014"/>
          </a:xfrm>
        </p:grpSpPr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267340" y="1481000"/>
              <a:ext cx="6325200" cy="3848540"/>
              <a:chOff x="0" y="1183121"/>
              <a:chExt cx="6840845" cy="4162282"/>
            </a:xfrm>
          </p:grpSpPr>
          <p:pic>
            <p:nvPicPr>
              <p:cNvPr id="4" name="图片 3" descr="图片包含 室内, 桌子, 小, 房间&#10;&#10;AI 生成的内容可能不正确。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505" b="11480"/>
              <a:stretch>
                <a:fillRect/>
              </a:stretch>
            </p:blipFill>
            <p:spPr>
              <a:xfrm>
                <a:off x="0" y="1183121"/>
                <a:ext cx="4053385" cy="4162282"/>
              </a:xfrm>
              <a:prstGeom prst="rect">
                <a:avLst/>
              </a:prstGeom>
            </p:spPr>
          </p:pic>
          <p:pic>
            <p:nvPicPr>
              <p:cNvPr id="6" name="图片 5" descr="图片包含 室内, 物体, 小, 发动机&#10;&#10;AI 生成的内容可能不正确。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7636" y="1183121"/>
                <a:ext cx="2663209" cy="1997407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20000" contrast="-40000"/>
                        </a14:imgEffect>
                        <a14:imgEffect>
                          <a14:saturation sat="6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7635" y="3347996"/>
                <a:ext cx="2663209" cy="1997407"/>
              </a:xfrm>
              <a:prstGeom prst="rect">
                <a:avLst/>
              </a:prstGeom>
            </p:spPr>
          </p:pic>
          <p:sp>
            <p:nvSpPr>
              <p:cNvPr id="10" name="矩形 9"/>
              <p:cNvSpPr/>
              <p:nvPr/>
            </p:nvSpPr>
            <p:spPr>
              <a:xfrm>
                <a:off x="2114550" y="1524000"/>
                <a:ext cx="548659" cy="39052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681445" y="1438694"/>
                <a:ext cx="416432" cy="565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409073" y="1974002"/>
                <a:ext cx="416432" cy="565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889661" y="2447925"/>
                <a:ext cx="910689" cy="39052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2247558" y="2733475"/>
                <a:ext cx="416432" cy="565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824309" y="3525754"/>
                <a:ext cx="416432" cy="565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31264" y="1697385"/>
                <a:ext cx="416432" cy="565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245150" y="2175897"/>
                <a:ext cx="1296973" cy="266928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267340" y="5503338"/>
              <a:ext cx="6323320" cy="3577676"/>
              <a:chOff x="267340" y="5503338"/>
              <a:chExt cx="6323320" cy="3577676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267340" y="5530069"/>
                <a:ext cx="6323320" cy="3550945"/>
                <a:chOff x="35539" y="5442940"/>
                <a:chExt cx="6323320" cy="3550945"/>
              </a:xfrm>
            </p:grpSpPr>
            <p:grpSp>
              <p:nvGrpSpPr>
                <p:cNvPr id="34" name="组合 33"/>
                <p:cNvGrpSpPr/>
                <p:nvPr/>
              </p:nvGrpSpPr>
              <p:grpSpPr>
                <a:xfrm>
                  <a:off x="35539" y="5442940"/>
                  <a:ext cx="6323320" cy="3550945"/>
                  <a:chOff x="35539" y="5442940"/>
                  <a:chExt cx="6323320" cy="3550945"/>
                </a:xfrm>
              </p:grpSpPr>
              <p:pic>
                <p:nvPicPr>
                  <p:cNvPr id="8" name="图片 7" descr="桌子上的自行车&#10;&#10;AI 生成的内容可能不正确。"/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539" y="5442940"/>
                    <a:ext cx="2663209" cy="3550945"/>
                  </a:xfrm>
                  <a:prstGeom prst="rect">
                    <a:avLst/>
                  </a:prstGeom>
                </p:spPr>
              </p:pic>
              <p:pic>
                <p:nvPicPr>
                  <p:cNvPr id="17" name="图片 16" descr="图片包含 室内, 椅子, 桌子, 厨房&#10;&#10;AI 生成的内容可能不正确。"/>
                  <p:cNvPicPr>
                    <a:picLocks noChangeAspect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20944"/>
                  <a:stretch>
                    <a:fillRect/>
                  </a:stretch>
                </p:blipFill>
                <p:spPr>
                  <a:xfrm>
                    <a:off x="2909837" y="5442940"/>
                    <a:ext cx="1662140" cy="1752031"/>
                  </a:xfrm>
                  <a:prstGeom prst="rect">
                    <a:avLst/>
                  </a:prstGeom>
                </p:spPr>
              </p:pic>
              <p:pic>
                <p:nvPicPr>
                  <p:cNvPr id="19" name="图片 18" descr="图片包含 室内, 水槽, 小, 镜子&#10;&#10;AI 生成的内容可能不正确。"/>
                  <p:cNvPicPr>
                    <a:picLocks noChangeAspect="1"/>
                  </p:cNvPicPr>
                  <p:nvPr/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20967"/>
                  <a:stretch>
                    <a:fillRect/>
                  </a:stretch>
                </p:blipFill>
                <p:spPr>
                  <a:xfrm>
                    <a:off x="2909837" y="7241855"/>
                    <a:ext cx="1662633" cy="1752030"/>
                  </a:xfrm>
                  <a:prstGeom prst="rect">
                    <a:avLst/>
                  </a:prstGeom>
                </p:spPr>
              </p:pic>
              <p:pic>
                <p:nvPicPr>
                  <p:cNvPr id="21" name="图片 20" descr="图片包含 室内, 自行车, 椅子, 房间&#10;&#10;AI 生成的内容可能不正确。"/>
                  <p:cNvPicPr>
                    <a:picLocks noChangeAspect="1"/>
                  </p:cNvPicPr>
                  <p:nvPr/>
                </p:nvPicPr>
                <p:blipFill>
                  <a:blip r:embed="rId1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8673" b="2294"/>
                  <a:stretch>
                    <a:fillRect/>
                  </a:stretch>
                </p:blipFill>
                <p:spPr>
                  <a:xfrm>
                    <a:off x="4696226" y="5442940"/>
                    <a:ext cx="1662633" cy="1752031"/>
                  </a:xfrm>
                  <a:prstGeom prst="rect">
                    <a:avLst/>
                  </a:prstGeom>
                </p:spPr>
              </p:pic>
              <p:pic>
                <p:nvPicPr>
                  <p:cNvPr id="23" name="图片 22" descr="图片包含 室内, 水槽, 摩托车, 厨房&#10;&#10;AI 生成的内容可能不正确。"/>
                  <p:cNvPicPr>
                    <a:picLocks noChangeAspect="1"/>
                  </p:cNvPicPr>
                  <p:nvPr/>
                </p:nvPicPr>
                <p:blipFill>
                  <a:blip r:embed="rId1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8656" b="12311"/>
                  <a:stretch>
                    <a:fillRect/>
                  </a:stretch>
                </p:blipFill>
                <p:spPr>
                  <a:xfrm>
                    <a:off x="4696226" y="7241854"/>
                    <a:ext cx="1662632" cy="1752029"/>
                  </a:xfrm>
                  <a:prstGeom prst="rect">
                    <a:avLst/>
                  </a:prstGeom>
                </p:spPr>
              </p:pic>
              <p:sp>
                <p:nvSpPr>
                  <p:cNvPr id="24" name="文本框 23"/>
                  <p:cNvSpPr txBox="1"/>
                  <p:nvPr/>
                </p:nvSpPr>
                <p:spPr>
                  <a:xfrm>
                    <a:off x="1542336" y="5573036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1263849" y="7691396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1542123" y="7302020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652473" y="6108963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" name="文本框 27"/>
                  <p:cNvSpPr txBox="1"/>
                  <p:nvPr/>
                </p:nvSpPr>
                <p:spPr>
                  <a:xfrm>
                    <a:off x="541951" y="7207770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" name="文本框 28"/>
                  <p:cNvSpPr txBox="1"/>
                  <p:nvPr/>
                </p:nvSpPr>
                <p:spPr>
                  <a:xfrm>
                    <a:off x="3315682" y="5854830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" name="文本框 29"/>
                  <p:cNvSpPr txBox="1"/>
                  <p:nvPr/>
                </p:nvSpPr>
                <p:spPr>
                  <a:xfrm>
                    <a:off x="3228128" y="8353547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4021182" y="8444987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5196333" y="6318955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4959854" y="7933202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" name="文本框 34"/>
                <p:cNvSpPr txBox="1"/>
                <p:nvPr/>
              </p:nvSpPr>
              <p:spPr>
                <a:xfrm>
                  <a:off x="236050" y="6469224"/>
                  <a:ext cx="889987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rgbClr val="FF0000"/>
                      </a:solidFill>
                    </a:rPr>
                    <a:t>加热控制器</a:t>
                  </a: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434340" y="7468493"/>
                  <a:ext cx="103105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rgbClr val="FF0000"/>
                      </a:solidFill>
                    </a:rPr>
                    <a:t>氮气冲洗接口</a:t>
                  </a:r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1061819" y="6414944"/>
                  <a:ext cx="403667" cy="67948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808926" y="7171215"/>
                  <a:ext cx="403667" cy="26161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349351" y="5503338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2369776" y="479881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设备总览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822553" y="8532116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吸附器</a:t>
              </a: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5759343" y="2677121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V6</a:t>
            </a:r>
            <a:endParaRPr lang="zh-CN" alt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054408" y="2003383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V5</a:t>
            </a:r>
            <a:endParaRPr lang="zh-CN" alt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428774" y="394355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V3</a:t>
            </a:r>
            <a:endParaRPr lang="zh-CN" alt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226902" y="4016382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V4</a:t>
            </a:r>
            <a:endParaRPr lang="zh-CN" alt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452885" y="4622771"/>
            <a:ext cx="5975110" cy="4135344"/>
            <a:chOff x="52112" y="4694175"/>
            <a:chExt cx="5975110" cy="4135344"/>
          </a:xfrm>
        </p:grpSpPr>
        <p:grpSp>
          <p:nvGrpSpPr>
            <p:cNvPr id="30" name="组合 29"/>
            <p:cNvGrpSpPr/>
            <p:nvPr/>
          </p:nvGrpSpPr>
          <p:grpSpPr>
            <a:xfrm>
              <a:off x="52112" y="4694175"/>
              <a:ext cx="3143011" cy="4135344"/>
              <a:chOff x="-41503" y="4836071"/>
              <a:chExt cx="3143011" cy="4135344"/>
            </a:xfrm>
          </p:grpSpPr>
          <p:pic>
            <p:nvPicPr>
              <p:cNvPr id="24" name="图片 23" descr="图片包含 室内, 桌子, 厨房, 房间&#10;&#10;AI 生成的内容可能不正确。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4836071"/>
                <a:ext cx="3101508" cy="4135344"/>
              </a:xfrm>
              <a:prstGeom prst="rect">
                <a:avLst/>
              </a:prstGeom>
            </p:spPr>
          </p:pic>
          <p:sp>
            <p:nvSpPr>
              <p:cNvPr id="25" name="文本框 24"/>
              <p:cNvSpPr txBox="1"/>
              <p:nvPr/>
            </p:nvSpPr>
            <p:spPr>
              <a:xfrm>
                <a:off x="14575" y="8275400"/>
                <a:ext cx="1107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真空泵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2059573" y="6157486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阀门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737163" y="5048221"/>
                <a:ext cx="8002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FF0000"/>
                    </a:solidFill>
                  </a:rPr>
                  <a:t>控制阀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-41503" y="5386775"/>
                <a:ext cx="10054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FF0000"/>
                    </a:solidFill>
                  </a:rPr>
                  <a:t>洗气接口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3382030" y="4694175"/>
              <a:ext cx="2645192" cy="41148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423188" y="4731910"/>
              <a:ext cx="2604034" cy="3339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dirty="0"/>
                <a:t>分子泵使用说明：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rgbClr val="FF0000"/>
                  </a:solidFill>
                </a:rPr>
                <a:t>023 </a:t>
              </a:r>
              <a:r>
                <a:rPr lang="zh-CN" altLang="en-US" dirty="0"/>
                <a:t>分子泵开关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en-US" altLang="zh-CN" b="1" dirty="0">
                  <a:solidFill>
                    <a:srgbClr val="FF0000"/>
                  </a:solidFill>
                </a:rPr>
                <a:t>340</a:t>
              </a:r>
              <a:r>
                <a:rPr lang="en-US" altLang="zh-CN" dirty="0"/>
                <a:t> </a:t>
              </a:r>
              <a:r>
                <a:rPr lang="zh-CN" altLang="en-US" dirty="0"/>
                <a:t>真空度读数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zh-CN" altLang="en-US" dirty="0"/>
                <a:t>同时按压：</a:t>
              </a:r>
              <a:r>
                <a:rPr lang="en-US" altLang="zh-CN" dirty="0"/>
                <a:t>《 | 》</a:t>
              </a:r>
              <a:r>
                <a:rPr lang="zh-CN" altLang="en-US" dirty="0"/>
                <a:t>按键进入设置界面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en-US" altLang="zh-CN" dirty="0"/>
                <a:t>《 / 》</a:t>
              </a:r>
              <a:r>
                <a:rPr lang="zh-CN" altLang="en-US" dirty="0"/>
                <a:t>：切换界面</a:t>
              </a:r>
              <a:endParaRPr lang="en-US" altLang="zh-CN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2881" y="292100"/>
            <a:ext cx="6835119" cy="4114800"/>
            <a:chOff x="0" y="317500"/>
            <a:chExt cx="6835119" cy="4114800"/>
          </a:xfrm>
        </p:grpSpPr>
        <p:pic>
          <p:nvPicPr>
            <p:cNvPr id="5" name="图片 4" descr="厨房的摆设布局&#10;&#10;AI 生成的内容可能不正确。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385" b="10348"/>
            <a:stretch>
              <a:fillRect/>
            </a:stretch>
          </p:blipFill>
          <p:spPr>
            <a:xfrm>
              <a:off x="0" y="317500"/>
              <a:ext cx="6835119" cy="411480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0" y="1824966"/>
              <a:ext cx="965200" cy="48643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117600" y="1338532"/>
              <a:ext cx="1492250" cy="253496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9231" y="1563356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FF0000"/>
                  </a:solidFill>
                </a:rPr>
                <a:t>激光器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7090" y="1040136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FF0000"/>
                  </a:solidFill>
                </a:rPr>
                <a:t>控制柜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813050" y="366982"/>
              <a:ext cx="1092200" cy="137291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05191" y="435601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FF0000"/>
                  </a:solidFill>
                </a:rPr>
                <a:t>光谱仪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946400" y="1824966"/>
              <a:ext cx="1403350" cy="223903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984688" y="1996445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FF0000"/>
                  </a:solidFill>
                </a:rPr>
                <a:t>低温腔体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4388038" y="1824966"/>
              <a:ext cx="1111062" cy="223903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5207000" y="1528432"/>
              <a:ext cx="679450" cy="155131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066255" y="1249360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FF0000"/>
                  </a:solidFill>
                </a:rPr>
                <a:t>真空泵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1686</Words>
  <Application>Microsoft Office PowerPoint</Application>
  <PresentationFormat>A4 纸张(210x297 毫米)</PresentationFormat>
  <Paragraphs>186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 Gro</dc:creator>
  <cp:lastModifiedBy>ele Gro</cp:lastModifiedBy>
  <cp:revision>32</cp:revision>
  <dcterms:created xsi:type="dcterms:W3CDTF">2025-07-19T12:41:00Z</dcterms:created>
  <dcterms:modified xsi:type="dcterms:W3CDTF">2026-09-06T03:30:01Z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9E214C1036824103B99B299E9B7B4597_12</vt:lpwstr>
  </property>
  <property fmtid="{D5CDD505-2E9C-101B-9397-08002B2CF9AE}" pid="3" name="KSOProductBuildVer">
    <vt:lpwstr>2052-12.1.0.23542</vt:lpwstr>
  </property>
</Properties>
</file>